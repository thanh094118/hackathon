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5400" b="1" i="0">
                <a:solidFill>
                  <a:srgbClr val="38BDF8"/>
                </a:solidFill>
                <a:latin typeface="Calibri"/>
              </a:rPr>
              <a:t>ThreatLens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Tiên phong kiến tạo SOC Copilot &amp; Hệ thống điều phối an ninh tự động.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72000"/>
            <a:ext cx="6705295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4663440"/>
            <a:ext cx="6705295" cy="1077218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Trình bày bởi: Bùi Đức Hùng</a:t>
            </a:r>
            <a:r>
              <a:rPr lang="en-US" sz="1500" b="1" i="0">
                <a:solidFill>
                  <a:srgbClr val="FFFFFF"/>
                </a:solidFill>
                <a:latin typeface="Calibri"/>
              </a:rPr>
              <a:t> – It works on Local</a:t>
            </a:r>
          </a:p>
          <a:p>
            <a:pPr algn="ctr"/>
            <a:r>
              <a:rPr lang="en-US" sz="1500" b="1">
                <a:solidFill>
                  <a:srgbClr val="FFFFFF"/>
                </a:solidFill>
                <a:latin typeface="Calibri"/>
              </a:rPr>
              <a:t>Thành Viên: Bùi Ngọc Thanh</a:t>
            </a:r>
          </a:p>
          <a:p>
            <a:pPr algn="ctr"/>
            <a:r>
              <a:rPr lang="en-US" sz="1500" b="1" i="0">
                <a:solidFill>
                  <a:srgbClr val="FFFFFF"/>
                </a:solidFill>
                <a:latin typeface="Calibri"/>
              </a:rPr>
              <a:t>                         Hoàng công Vinh</a:t>
            </a:r>
            <a:endParaRPr sz="1500" b="1" i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300" b="0" i="0">
                <a:solidFill>
                  <a:srgbClr val="38BDF8"/>
                </a:solidFill>
                <a:latin typeface="Calibri"/>
              </a:rPr>
              <a:t>Giải pháp tối ưu hóa năng lực SOC với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Thực trạng các Trung tâm điều hành an ninh mạng (SOC)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41808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4028809" cy="83099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600" b="1" i="0">
                <a:solidFill>
                  <a:srgbClr val="EF4444"/>
                </a:solidFill>
                <a:latin typeface="Calibri"/>
              </a:rPr>
              <a:t>Cảnh báo nhiễu (</a:t>
            </a:r>
            <a:r>
              <a:rPr lang="en-US" sz="1600" b="1" i="0">
                <a:solidFill>
                  <a:srgbClr val="EF4444"/>
                </a:solidFill>
                <a:latin typeface="Calibri"/>
              </a:rPr>
              <a:t>&gt;6</a:t>
            </a:r>
            <a:r>
              <a:rPr sz="1600" b="1" i="0">
                <a:solidFill>
                  <a:srgbClr val="EF4444"/>
                </a:solidFill>
                <a:latin typeface="Calibri"/>
              </a:rPr>
              <a:t>0% False Positive)</a:t>
            </a:r>
          </a:p>
          <a:p>
            <a:r>
              <a:rPr lang="en-US" sz="1300" b="0" i="0">
                <a:solidFill>
                  <a:srgbClr val="CBD5E1"/>
                </a:solidFill>
                <a:latin typeface="Calibri"/>
              </a:rPr>
              <a:t>Hàng nghìn </a:t>
            </a:r>
            <a:r>
              <a:rPr sz="1300" b="0" i="0">
                <a:solidFill>
                  <a:srgbClr val="CBD5E1"/>
                </a:solidFill>
                <a:latin typeface="Calibri"/>
              </a:rPr>
              <a:t>cảnh báo mỗi ngày gây quá tải cho các phân tích viên SOC.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017520"/>
            <a:ext cx="418084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4028809" cy="83099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600" b="1" i="0">
                <a:solidFill>
                  <a:srgbClr val="F59E0B"/>
                </a:solidFill>
                <a:latin typeface="Calibri"/>
              </a:rPr>
              <a:t>Hộp đen AI (Thiếu giải trình)</a:t>
            </a:r>
          </a:p>
          <a:p>
            <a:r>
              <a:rPr sz="1300" b="0" i="0">
                <a:solidFill>
                  <a:srgbClr val="CBD5E1"/>
                </a:solidFill>
                <a:latin typeface="Calibri"/>
              </a:rPr>
              <a:t>Mô hình học máy truyền thống chỉ gắn nhãn độc hại mà không giải thích lý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389120"/>
            <a:ext cx="418084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480560"/>
            <a:ext cx="4028809" cy="83099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600" b="1" i="0">
                <a:solidFill>
                  <a:srgbClr val="38BDF8"/>
                </a:solidFill>
                <a:latin typeface="Calibri"/>
              </a:rPr>
              <a:t>Gánh nặng chi phí (Terabytes Log / Ngày)</a:t>
            </a:r>
          </a:p>
          <a:p>
            <a:r>
              <a:rPr sz="1300" b="0" i="0">
                <a:solidFill>
                  <a:srgbClr val="CBD5E1"/>
                </a:solidFill>
                <a:latin typeface="Calibri"/>
              </a:rPr>
              <a:t>Lưu trữ dữ liệu log phi cấu trúc trên các hạ tầng cơ sở dữ liệu nóng ngốn phần lớn ngân sách hoạt động.</a:t>
            </a:r>
          </a:p>
        </p:txBody>
      </p:sp>
      <p:pic>
        <p:nvPicPr>
          <p:cNvPr id="11" name="Hình ảnh 10">
            <a:extLst>
              <a:ext uri="{FF2B5EF4-FFF2-40B4-BE49-F238E27FC236}">
                <a16:creationId xmlns:a16="http://schemas.microsoft.com/office/drawing/2014/main" id="{CAC57AB0-2068-DDCA-993E-0507DA937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440" y="1645920"/>
            <a:ext cx="6933587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Kiến trúc tối ưu: Nhanh hơn, Thông minh hơn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32918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31089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38BDF8"/>
                </a:solidFill>
                <a:latin typeface="Calibri"/>
              </a:rPr>
              <a:t>1. Ingestion tốc độ cao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Loại bỏ hoàn toàn nút thắt cổ chai của các bộ phân tích Regex truyền thống.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Nạp trực tiếp dữ liệu log có cấu trúc theo thời gian thực để sẵn sàng cho phân tích.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9470" y="1828800"/>
            <a:ext cx="32918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40910" y="2011680"/>
            <a:ext cx="31089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2. Hybrid Engine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Kết hợp độ trễ thấp của bộ lọc Rule-based.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Tận dụng độ chính xác của Machine Learning.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Tích hợp tư duy ngữ nghĩa vượt trội từ Vector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4055" y="1828800"/>
            <a:ext cx="329184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5495" y="2011680"/>
            <a:ext cx="310896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10B981"/>
                </a:solidFill>
                <a:latin typeface="Calibri"/>
              </a:rPr>
              <a:t>3. Lõi cơ sở dữ liệu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Biến MongoDB Atlas từ một kho lưu trữ tĩnh thành trung tâm suy luận an ninh mạng.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Tối ưu chỉ mục và tăng tốc độ tìm kiếm truy vấn log an ninh.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Nhận diện chiến dịch tấn công (Campaign Detection)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85572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3672840" cy="2862322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Tự động xâu chuỗi sự kiện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Liên kết tự động các hành vi rời rạc (quét IP, brute-force, web shell) trên các máy chủ khác nhau.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Gom cụm sự cố theo cả chiều không gian và thời gian thực.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Thay đổi tư duy phân tích: Giúp SOC nhìn thấy bức tranh chiến dịch của Hacker thay vì các dòng log đơn lẻ.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solidFill>
            <a:srgbClr val="182132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noFill/>
        </p:spPr>
        <p:txBody>
          <a:bodyPr wrap="square" lIns="182880" tIns="457200" rIns="182880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BIỂU ĐỒ QUAN HỆ CHIẾN DỊCH (BLAST RADIUS)</a:t>
            </a:r>
          </a:p>
          <a:p>
            <a:br/>
            <a:br/>
            <a:r>
              <a:t>[Kéo thả ảnh chụp màn hình Campaign Graph hoặc sơ đồ chuỗi tấn công vào đây]</a:t>
            </a:r>
          </a:p>
        </p:txBody>
      </p:sp>
      <p:pic>
        <p:nvPicPr>
          <p:cNvPr id="8" name="Hình ảnh 7">
            <a:extLst>
              <a:ext uri="{FF2B5EF4-FFF2-40B4-BE49-F238E27FC236}">
                <a16:creationId xmlns:a16="http://schemas.microsoft.com/office/drawing/2014/main" id="{71C260D3-5503-EBCD-CCEC-7C868FE5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83" y="1645920"/>
            <a:ext cx="7213046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B407E-CDDE-9906-12AA-D987B644D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2244AC-2EBE-B0C6-6E48-A9B265B43DCA}"/>
              </a:ext>
            </a:extLst>
          </p:cNvPr>
          <p:cNvSpPr txBox="1"/>
          <p:nvPr/>
        </p:nvSpPr>
        <p:spPr>
          <a:xfrm>
            <a:off x="685800" y="457200"/>
            <a:ext cx="10820095" cy="677108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lang="en-US" sz="3200" b="1" i="0">
                <a:solidFill>
                  <a:srgbClr val="FFFFFF"/>
                </a:solidFill>
                <a:latin typeface="Calibri"/>
              </a:rPr>
              <a:t>Gom nhóm sự cố trạng thái</a:t>
            </a:r>
            <a:endParaRPr lang="vi-VN" sz="32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85A44C-150E-162C-D40E-455C16872502}"/>
              </a:ext>
            </a:extLst>
          </p:cNvPr>
          <p:cNvSpPr/>
          <p:nvPr/>
        </p:nvSpPr>
        <p:spPr>
          <a:xfrm>
            <a:off x="685800" y="1828800"/>
            <a:ext cx="3291840" cy="195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BA63C-85DE-A960-8E98-0763E6F3FB50}"/>
              </a:ext>
            </a:extLst>
          </p:cNvPr>
          <p:cNvSpPr txBox="1"/>
          <p:nvPr/>
        </p:nvSpPr>
        <p:spPr>
          <a:xfrm>
            <a:off x="777240" y="2011680"/>
            <a:ext cx="3108960" cy="110799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lang="vi-VN" sz="1800" b="1" i="0">
                <a:solidFill>
                  <a:srgbClr val="38BDF8"/>
                </a:solidFill>
                <a:latin typeface="Calibri"/>
              </a:rPr>
              <a:t>1. </a:t>
            </a:r>
            <a:r>
              <a:rPr lang="en-US" sz="1800" b="1" i="0">
                <a:solidFill>
                  <a:srgbClr val="38BDF8"/>
                </a:solidFill>
                <a:latin typeface="Calibri"/>
              </a:rPr>
              <a:t>Cửa sổ thời gian trượt</a:t>
            </a:r>
            <a:endParaRPr lang="vi-VN" sz="1800" b="1" i="0">
              <a:solidFill>
                <a:srgbClr val="38BDF8"/>
              </a:solidFill>
              <a:latin typeface="Calibri"/>
            </a:endParaRPr>
          </a:p>
          <a:p>
            <a:r>
              <a:rPr lang="vi-VN" sz="1400" b="0" i="0">
                <a:solidFill>
                  <a:srgbClr val="CBD5E1"/>
                </a:solidFill>
                <a:latin typeface="Calibri"/>
              </a:rPr>
              <a:t>
• </a:t>
            </a:r>
            <a:r>
              <a:rPr lang="en-US" sz="1400" b="0" i="0">
                <a:solidFill>
                  <a:srgbClr val="CBD5E1"/>
                </a:solidFill>
                <a:latin typeface="Calibri"/>
              </a:rPr>
              <a:t>Tự động gom nhóm các yêu  cầu độc hại cùng IP trong  cùng chu kỳ 5 phút</a:t>
            </a:r>
            <a:endParaRPr lang="vi-VN" sz="140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C166CF-3998-55AC-2E52-3752BE9F14BE}"/>
              </a:ext>
            </a:extLst>
          </p:cNvPr>
          <p:cNvSpPr/>
          <p:nvPr/>
        </p:nvSpPr>
        <p:spPr>
          <a:xfrm>
            <a:off x="4449470" y="1828800"/>
            <a:ext cx="3291840" cy="195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7B19E-77D9-BD65-43B3-780BE91A114D}"/>
              </a:ext>
            </a:extLst>
          </p:cNvPr>
          <p:cNvSpPr txBox="1"/>
          <p:nvPr/>
        </p:nvSpPr>
        <p:spPr>
          <a:xfrm>
            <a:off x="4540910" y="2011680"/>
            <a:ext cx="3108960" cy="153888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2. </a:t>
            </a:r>
            <a:r>
              <a:rPr lang="en-US" sz="1800" b="1" i="0">
                <a:solidFill>
                  <a:srgbClr val="FFFFFF"/>
                </a:solidFill>
                <a:latin typeface="Calibri"/>
              </a:rPr>
              <a:t>Cơ chế Cooldown 30 phút</a:t>
            </a:r>
            <a:endParaRPr sz="1800" b="1" i="0">
              <a:solidFill>
                <a:srgbClr val="FFFFFF"/>
              </a:solidFill>
              <a:latin typeface="Calibri"/>
            </a:endParaRP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</a:t>
            </a:r>
            <a:r>
              <a:rPr lang="en-US" sz="1400" b="0" i="0">
                <a:solidFill>
                  <a:srgbClr val="CBD5E1"/>
                </a:solidFill>
                <a:latin typeface="Calibri"/>
              </a:rPr>
              <a:t>Các cảnh bảo tiếp theo đến từ cùng 1 IP trong thời gian cooldown sẽ được gộp làm bằng chứng, không kích hoạt cảnh báo mới.</a:t>
            </a:r>
            <a:endParaRPr sz="1400" b="0" i="0">
              <a:solidFill>
                <a:srgbClr val="CBD5E1"/>
              </a:solidFill>
              <a:latin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B1740-7B3C-8668-7B48-C854CC7FDA04}"/>
              </a:ext>
            </a:extLst>
          </p:cNvPr>
          <p:cNvSpPr/>
          <p:nvPr/>
        </p:nvSpPr>
        <p:spPr>
          <a:xfrm>
            <a:off x="8214055" y="1828800"/>
            <a:ext cx="3291840" cy="1950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402BA-66DF-EA7C-6AA0-14B34F291CB4}"/>
              </a:ext>
            </a:extLst>
          </p:cNvPr>
          <p:cNvSpPr txBox="1"/>
          <p:nvPr/>
        </p:nvSpPr>
        <p:spPr>
          <a:xfrm>
            <a:off x="8305495" y="2011680"/>
            <a:ext cx="3108960" cy="1538883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10B981"/>
                </a:solidFill>
                <a:latin typeface="Calibri"/>
              </a:rPr>
              <a:t>3. </a:t>
            </a:r>
            <a:r>
              <a:rPr lang="en-US" b="1">
                <a:solidFill>
                  <a:srgbClr val="10B981"/>
                </a:solidFill>
                <a:latin typeface="Calibri"/>
              </a:rPr>
              <a:t>Tự động leo thang</a:t>
            </a:r>
            <a:endParaRPr sz="1800" b="1" i="0">
              <a:solidFill>
                <a:srgbClr val="10B981"/>
              </a:solidFill>
              <a:latin typeface="Calibri"/>
            </a:endParaRP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</a:t>
            </a:r>
            <a:r>
              <a:rPr lang="en-US" sz="1400">
                <a:solidFill>
                  <a:srgbClr val="CBD5E1"/>
                </a:solidFill>
                <a:latin typeface="Calibri"/>
              </a:rPr>
              <a:t> Ngay lập tức phá vực cooldown và phát tín hiệu khẩn cấp nếu phát hiện hành vi có mức độ nghiêm trọng cao hơn</a:t>
            </a:r>
            <a:endParaRPr sz="1400" b="0" i="0">
              <a:solidFill>
                <a:srgbClr val="CBD5E1"/>
              </a:solidFill>
              <a:latin typeface="Calibri"/>
            </a:endParaRP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206B9815-970D-563A-8852-930A4B8DF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4" y="3962043"/>
            <a:ext cx="5210175" cy="2695575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EABFB9E6-1665-03EB-CB8A-C511F9E2E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3931297"/>
            <a:ext cx="3521731" cy="292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211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AI Giải trình với Vector Search (Explainable AI)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415036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4058920" cy="374903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libri"/>
              </a:rPr>
              <a:t>Giải trình ngữ nghĩa từ Vector Search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Trích xuất mã nguồn độc hại bị làm rối (Obfuscated Code) và đối chiếu với Vector DB.</a:t>
            </a:r>
          </a:p>
          <a:p>
            <a:r>
              <a:rPr sz="1500" b="1" i="0">
                <a:solidFill>
                  <a:srgbClr val="10B981"/>
                </a:solidFill>
                <a:latin typeface="Calibri"/>
              </a:rPr>
              <a:t>
• ĐỘ TƯƠNG ĐỒNG: 95% UNION SQL INJECTION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Giải thích ý đồ: Đoạn code thực hiện phép hội UNION để trích xuất trái phép dữ liệu tài khoản quản trị viên.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• Khuyến nghị khắc phục: Cấu hình ngay WAF chặn các chuỗi chứa SQL keywords hoặc hàm chuyển mã kí tự CHAR().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solidFill>
            <a:srgbClr val="182132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72200" y="1645920"/>
            <a:ext cx="5303520" cy="4114800"/>
          </a:xfrm>
          <a:prstGeom prst="rect">
            <a:avLst/>
          </a:prstGeom>
          <a:noFill/>
        </p:spPr>
        <p:txBody>
          <a:bodyPr wrap="square" lIns="182880" tIns="457200" rIns="182880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KHUNG GIẢI THÍCH CỦA SOC COPILOT</a:t>
            </a:r>
          </a:p>
          <a:p>
            <a:br/>
            <a:br/>
            <a:r>
              <a:t>[Kéo thả ảnh chụp màn hình AI Copilot giải thích payload hoặc log chi tiết vào đây]</a:t>
            </a: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3F5C4277-E01D-7960-6956-AF65CE5B4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083" y="1645920"/>
            <a:ext cx="706131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Lưu trữ phân tầng &amp; Cắt giảm ngân sách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41097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960276" cy="83099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Hot Tier (Dữ liệu nóng)</a:t>
            </a:r>
          </a:p>
          <a:p>
            <a:r>
              <a:rPr sz="1300" b="0" i="0">
                <a:solidFill>
                  <a:srgbClr val="CBD5E1"/>
                </a:solidFill>
                <a:latin typeface="Calibri"/>
              </a:rPr>
              <a:t>Lưu trữ log 30 ngày gần nhất trên Atlas phục vụ phân tích tần suất cao.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017520"/>
            <a:ext cx="4109720" cy="11887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3960276" cy="830997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600" b="1" i="0">
                <a:solidFill>
                  <a:srgbClr val="CBD5E1"/>
                </a:solidFill>
                <a:latin typeface="Calibri"/>
              </a:rPr>
              <a:t>Cold Tier (Dữ liệu lạnh)</a:t>
            </a:r>
          </a:p>
          <a:p>
            <a:r>
              <a:rPr sz="1300" b="0" i="0">
                <a:solidFill>
                  <a:srgbClr val="CBD5E1"/>
                </a:solidFill>
                <a:latin typeface="Calibri"/>
              </a:rPr>
              <a:t>Tự động dịch chuyển xuống Online Archive của MongoDB Atlas với mức phí rẻ hơn nhiều lần.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572000"/>
            <a:ext cx="4109720" cy="13716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3960276" cy="861774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10B981"/>
                </a:solidFill>
                <a:latin typeface="Calibri"/>
              </a:rPr>
              <a:t>TIẾT KIỆM TỚI 70% CHI PHÍ</a:t>
            </a:r>
          </a:p>
          <a:p>
            <a:r>
              <a:rPr sz="1300" b="0" i="0">
                <a:solidFill>
                  <a:srgbClr val="FFFFFF"/>
                </a:solidFill>
                <a:latin typeface="Calibri"/>
              </a:rPr>
              <a:t>Hệ thống vẫn cho phép truy vấn log lịch sử 6 tháng với độ trễ tính bằng mili-giây.</a:t>
            </a: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09E081C3-7DC7-6599-E169-652BB0843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845" y="2240280"/>
            <a:ext cx="67331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</a:rPr>
              <a:t>Đột phá năng lực vận hành An ninh mạng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3108960" cy="374903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Hiệu suất hoạt động</a:t>
            </a:r>
          </a:p>
          <a:p>
            <a:r>
              <a:rPr sz="2600" b="1" i="0">
                <a:solidFill>
                  <a:srgbClr val="10B981"/>
                </a:solidFill>
                <a:latin typeface="Calibri"/>
              </a:rPr>
              <a:t>
Giảm 80% MTTR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Tự động hóa việc gom cụm log và cảnh báo, giúp rút ngắn tối đa thời gian phát hiện và ứng phó sự cố.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9470" y="164592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40910" y="1828800"/>
            <a:ext cx="3108960" cy="374903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Độ tin cậy</a:t>
            </a:r>
          </a:p>
          <a:p>
            <a:r>
              <a:rPr sz="2200" b="1" i="0">
                <a:solidFill>
                  <a:srgbClr val="38BDF8"/>
                </a:solidFill>
                <a:latin typeface="Calibri"/>
              </a:rPr>
              <a:t>
99.9% Độ chính xác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Trang bị tài liệu giải thích ngữ nghĩa rõ ràng đi kèm cảnh báo để chuyên viên ra quyết định nhanh, giảm False Positive.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14055" y="1645920"/>
            <a:ext cx="3291840" cy="41148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5495" y="1828800"/>
            <a:ext cx="3108960" cy="3749039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Hiệu quả kinh tế</a:t>
            </a:r>
          </a:p>
          <a:p>
            <a:r>
              <a:rPr sz="2600" b="1" i="0">
                <a:solidFill>
                  <a:srgbClr val="10B981"/>
                </a:solidFill>
                <a:latin typeface="Calibri"/>
              </a:rPr>
              <a:t>
Tối ưu hóa ROI</a:t>
            </a:r>
          </a:p>
          <a:p>
            <a:r>
              <a:rPr sz="1400" b="0" i="0">
                <a:solidFill>
                  <a:srgbClr val="CBD5E1"/>
                </a:solidFill>
                <a:latin typeface="Calibri"/>
              </a:rPr>
              <a:t>
Tối thiểu chi phí hạ tầng log qua phân tầng lưu trữ, tối ưu hóa năng suất xử lý của nhân sự SOC bảo mật.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5400" b="1" i="0">
                <a:solidFill>
                  <a:srgbClr val="38BDF8"/>
                </a:solidFill>
                <a:latin typeface="Calibri"/>
              </a:rPr>
              <a:t>Tương lai của AI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2895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ThreatLens AI - Biến dữ liệu log thành vũ khí phòng thủ chiến lược.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72000"/>
            <a:ext cx="6705295" cy="10972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4663440"/>
            <a:ext cx="6705295" cy="415498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Cảm ơn sự quan tâm theo dõi của quý vị!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875</Words>
  <Application>Microsoft Office PowerPoint</Application>
  <PresentationFormat>Màn hình rộng</PresentationFormat>
  <Paragraphs>66</Paragraphs>
  <Slides>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Bui Duc Hung 20225193</cp:lastModifiedBy>
  <cp:revision>6</cp:revision>
  <dcterms:created xsi:type="dcterms:W3CDTF">2013-01-27T09:14:16Z</dcterms:created>
  <dcterms:modified xsi:type="dcterms:W3CDTF">2026-05-31T09:54:07Z</dcterms:modified>
  <cp:category/>
</cp:coreProperties>
</file>